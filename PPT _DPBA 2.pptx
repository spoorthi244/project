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60" r:id="rId2"/>
    <p:sldId id="263" r:id="rId3"/>
    <p:sldId id="261" r:id="rId4"/>
    <p:sldId id="264" r:id="rId5"/>
    <p:sldId id="265" r:id="rId6"/>
    <p:sldId id="266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660"/>
  </p:normalViewPr>
  <p:slideViewPr>
    <p:cSldViewPr snapToGrid="0">
      <p:cViewPr varScale="1">
        <p:scale>
          <a:sx n="66" d="100"/>
          <a:sy n="66" d="100"/>
        </p:scale>
        <p:origin x="816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2126C0-4DC0-4D98-850B-AFA7D976CA8D}" type="datetimeFigureOut">
              <a:rPr lang="en-US" smtClean="0"/>
              <a:t>11/15/2025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32E0B-97E4-4708-A814-4999D7BDCE2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2126C0-4DC0-4D98-850B-AFA7D976CA8D}" type="datetimeFigureOut">
              <a:rPr lang="en-US" smtClean="0"/>
              <a:t>11/15/2025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32E0B-97E4-4708-A814-4999D7BDCE2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2126C0-4DC0-4D98-850B-AFA7D976CA8D}" type="datetimeFigureOut">
              <a:rPr lang="en-US" smtClean="0"/>
              <a:t>11/15/2025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32E0B-97E4-4708-A814-4999D7BDCE2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2126C0-4DC0-4D98-850B-AFA7D976CA8D}" type="datetimeFigureOut">
              <a:rPr lang="en-US" smtClean="0"/>
              <a:t>11/15/2025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32E0B-97E4-4708-A814-4999D7BDCE2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2126C0-4DC0-4D98-850B-AFA7D976CA8D}" type="datetimeFigureOut">
              <a:rPr lang="en-US" smtClean="0"/>
              <a:t>11/15/2025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32E0B-97E4-4708-A814-4999D7BDCE2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2126C0-4DC0-4D98-850B-AFA7D976CA8D}" type="datetimeFigureOut">
              <a:rPr lang="en-US" smtClean="0"/>
              <a:t>11/15/2025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32E0B-97E4-4708-A814-4999D7BDCE2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2126C0-4DC0-4D98-850B-AFA7D976CA8D}" type="datetimeFigureOut">
              <a:rPr lang="en-US" smtClean="0"/>
              <a:t>11/15/2025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32E0B-97E4-4708-A814-4999D7BDCE2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2126C0-4DC0-4D98-850B-AFA7D976CA8D}" type="datetimeFigureOut">
              <a:rPr lang="en-US" smtClean="0"/>
              <a:t>11/15/2025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32E0B-97E4-4708-A814-4999D7BDCE2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2126C0-4DC0-4D98-850B-AFA7D976CA8D}" type="datetimeFigureOut">
              <a:rPr lang="en-US" smtClean="0"/>
              <a:t>11/15/2025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32E0B-97E4-4708-A814-4999D7BDCE2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2126C0-4DC0-4D98-850B-AFA7D976CA8D}" type="datetimeFigureOut">
              <a:rPr lang="en-US" smtClean="0"/>
              <a:t>11/15/2025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32E0B-97E4-4708-A814-4999D7BDCE2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2126C0-4DC0-4D98-850B-AFA7D976CA8D}" type="datetimeFigureOut">
              <a:rPr lang="en-US" smtClean="0"/>
              <a:t>11/15/2025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32E0B-97E4-4708-A814-4999D7BDCE2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A2126C0-4DC0-4D98-850B-AFA7D976CA8D}" type="datetimeFigureOut">
              <a:rPr lang="en-US" smtClean="0"/>
              <a:t>11/15/2025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4832E0B-97E4-4708-A814-4999D7BDCE29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45143"/>
            <a:ext cx="10515600" cy="1248228"/>
          </a:xfrm>
        </p:spPr>
        <p:txBody>
          <a:bodyPr/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436914"/>
            <a:ext cx="10515600" cy="5268686"/>
          </a:xfrm>
        </p:spPr>
        <p:txBody>
          <a:bodyPr>
            <a:normAutofit/>
          </a:bodyPr>
          <a:lstStyle/>
          <a:p>
            <a:pPr marL="457200" lvl="1" indent="0" algn="ctr">
              <a:buNone/>
            </a:pPr>
            <a:r>
              <a:rPr lang="en-US" u="sng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FINANCIAL KPI DASHBOARD</a:t>
            </a:r>
          </a:p>
          <a:p>
            <a:pPr marL="363538" indent="-363538" algn="just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A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Financial KPI Dashboard in Power BI is a visual and 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interactive  reporting solution used to monitor an organization’s financial health.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63538" indent="-363538" algn="just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It brings multiple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financial metrics together—such as revenue, expenses, profit, and margins—into a single dashboard, allowing decision-makers to 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quickly understand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performance trends and take informed actions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363538" indent="-363538" algn="just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This project transforms raw data into an interactive dashboard that supports real-time financial decision-making.</a:t>
            </a:r>
          </a:p>
          <a:p>
            <a:pPr marL="363538" indent="-363538" algn="just">
              <a:lnSpc>
                <a:spcPct val="150000"/>
              </a:lnSpc>
              <a:buFont typeface="Wingdings" panose="05000000000000000000" pitchFamily="2" charset="2"/>
              <a:buChar char="v"/>
            </a:pPr>
            <a:endParaRPr lang="en-US" sz="2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50000"/>
              </a:lnSpc>
              <a:buNone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v"/>
            </a:pPr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-145143" y="0"/>
            <a:ext cx="12337143" cy="1204686"/>
          </a:xfrm>
        </p:spPr>
        <p:txBody>
          <a:bodyPr>
            <a:normAutofit/>
          </a:bodyPr>
          <a:lstStyle/>
          <a:p>
            <a:pPr marL="711200" indent="-87313"/>
            <a:r>
              <a:rPr lang="en-US" sz="4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  <a:endParaRPr lang="en-IN" sz="4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" y="1451429"/>
            <a:ext cx="12191999" cy="5138057"/>
          </a:xfrm>
        </p:spPr>
        <p:txBody>
          <a:bodyPr/>
          <a:lstStyle/>
          <a:p>
            <a:pPr marL="536575" algn="just" defTabSz="503238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Track and analyze Business performance With Key Financial indicators.</a:t>
            </a:r>
          </a:p>
          <a:p>
            <a:pPr marL="536575" algn="just" defTabSz="331788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Provide real-time insights for decision makers. </a:t>
            </a:r>
          </a:p>
          <a:p>
            <a:pPr marL="536575" algn="just" defTabSz="503238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Identify trends, variances, and performance gaps.</a:t>
            </a:r>
          </a:p>
          <a:p>
            <a:pPr marL="536575" algn="just" defTabSz="503238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Create interactive visuals for better understanding.</a:t>
            </a:r>
          </a:p>
          <a:p>
            <a:pPr marL="536575" algn="just" defTabSz="503238">
              <a:lnSpc>
                <a:spcPct val="150000"/>
              </a:lnSpc>
            </a:pPr>
            <a:endParaRPr lang="en-US" dirty="0" smtClean="0"/>
          </a:p>
          <a:p>
            <a:pPr marL="536575" algn="just" defTabSz="503238">
              <a:lnSpc>
                <a:spcPct val="150000"/>
              </a:lnSpc>
              <a:buFont typeface="Wingdings" panose="05000000000000000000" pitchFamily="2" charset="2"/>
              <a:buChar char="v"/>
            </a:pPr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23390511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" y="0"/>
            <a:ext cx="11988800" cy="1349829"/>
          </a:xfrm>
        </p:spPr>
        <p:txBody>
          <a:bodyPr>
            <a:noAutofit/>
          </a:bodyPr>
          <a:lstStyle/>
          <a:p>
            <a:pPr algn="ctr"/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PROBLEM  STATEMENT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199" y="914400"/>
            <a:ext cx="10802257" cy="5943600"/>
          </a:xfrm>
        </p:spPr>
        <p:txBody>
          <a:bodyPr>
            <a:normAutofit fontScale="85000" lnSpcReduction="20000"/>
          </a:bodyPr>
          <a:lstStyle/>
          <a:p>
            <a:pPr algn="just">
              <a:lnSpc>
                <a:spcPct val="100000"/>
              </a:lnSpc>
              <a:buFont typeface="Wingdings" panose="05000000000000000000" pitchFamily="2" charset="2"/>
              <a:buChar char="v"/>
            </a:pPr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Total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Sales Analysis:</a:t>
            </a:r>
          </a:p>
          <a:p>
            <a:pPr marL="0" indent="0" algn="just">
              <a:lnSpc>
                <a:spcPct val="100000"/>
              </a:lnSpc>
              <a:buNone/>
            </a:pP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Understands Whether the Company is achieving its expected target profit across different regions and product categories. 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00000"/>
              </a:lnSpc>
              <a:buFont typeface="Wingdings" panose="05000000000000000000" pitchFamily="2" charset="2"/>
              <a:buChar char="v"/>
            </a:pPr>
            <a:r>
              <a:rPr lang="en-US" sz="20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Revenu</a:t>
            </a:r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Performance Analysis:</a:t>
            </a: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00000"/>
              </a:lnSpc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Evaluate the Total 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target revenue and identify which regions or sales representatives Contribute the most to revenue generation.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00000"/>
              </a:lnSpc>
              <a:buFont typeface="Wingdings" panose="05000000000000000000" pitchFamily="2" charset="2"/>
              <a:buChar char="v"/>
            </a:pPr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Operating Expense Analysis:</a:t>
            </a: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00000"/>
              </a:lnSpc>
              <a:buNone/>
            </a:pP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Analyze the total operating expenses to identify high-expense product Categories and cost-heavy areas.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00000"/>
              </a:lnSpc>
              <a:buFont typeface="Wingdings" panose="05000000000000000000" pitchFamily="2" charset="2"/>
              <a:buChar char="v"/>
            </a:pPr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Net Profit Analysis:</a:t>
            </a: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00000"/>
              </a:lnSpc>
              <a:buNone/>
            </a:pP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Examine the overall net profit to assess the Company’s profitability after deducting operating expenses.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00000"/>
              </a:lnSpc>
              <a:buFont typeface="Wingdings" panose="05000000000000000000" pitchFamily="2" charset="2"/>
              <a:buChar char="v"/>
            </a:pPr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Region-Wise Financial Analysis:</a:t>
            </a: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00000"/>
              </a:lnSpc>
              <a:buNone/>
            </a:pP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Compare revenue, cost of goods sold(COGS) and profit across different regions to identify high-performing and low-performing zones.</a:t>
            </a:r>
          </a:p>
          <a:p>
            <a:pPr algn="just">
              <a:lnSpc>
                <a:spcPct val="100000"/>
              </a:lnSpc>
              <a:buFont typeface="Wingdings" panose="05000000000000000000" pitchFamily="2" charset="2"/>
              <a:buChar char="v"/>
            </a:pPr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Sales Representative Performance Analysis:</a:t>
            </a:r>
          </a:p>
          <a:p>
            <a:pPr marL="0" indent="0" algn="just">
              <a:lnSpc>
                <a:spcPct val="100000"/>
              </a:lnSpc>
              <a:buNone/>
            </a:pPr>
            <a:r>
              <a:rPr lang="en-US" sz="20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Evaluate target profit distribution among sales representatives to identify top and underperforming employees.</a:t>
            </a:r>
          </a:p>
          <a:p>
            <a:pPr algn="just">
              <a:lnSpc>
                <a:spcPct val="100000"/>
              </a:lnSpc>
              <a:buFont typeface="Wingdings" panose="05000000000000000000" pitchFamily="2" charset="2"/>
              <a:buChar char="v"/>
            </a:pPr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COGS Trend Analysis:</a:t>
            </a:r>
          </a:p>
          <a:p>
            <a:pPr marL="0" indent="0" algn="just">
              <a:lnSpc>
                <a:spcPct val="100000"/>
              </a:lnSpc>
              <a:buNone/>
            </a:pP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Analyze the monthly trend of cost of goods sold(COGS) to understand seasonal patterns and cost fluctuations.</a:t>
            </a:r>
          </a:p>
          <a:p>
            <a:pPr algn="just">
              <a:lnSpc>
                <a:spcPct val="100000"/>
              </a:lnSpc>
              <a:buFont typeface="Wingdings" panose="05000000000000000000" pitchFamily="2" charset="2"/>
              <a:buChar char="v"/>
            </a:pPr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Product Category Expense Analysis:</a:t>
            </a:r>
          </a:p>
          <a:p>
            <a:pPr marL="0" indent="0" algn="just">
              <a:lnSpc>
                <a:spcPct val="100000"/>
              </a:lnSpc>
              <a:buNone/>
            </a:pP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Assess operating expenses across different product categories to Support effective budgeting and resource allocation.</a:t>
            </a:r>
          </a:p>
          <a:p>
            <a:pPr marL="0" indent="0" algn="just">
              <a:lnSpc>
                <a:spcPct val="100000"/>
              </a:lnSpc>
              <a:buNone/>
            </a:pPr>
            <a:endParaRPr lang="en-US" sz="1600" b="1" dirty="0">
              <a:solidFill>
                <a:schemeClr val="accent6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</a:pPr>
            <a:endParaRPr lang="en-US" sz="1600" b="1" dirty="0">
              <a:solidFill>
                <a:schemeClr val="accent6">
                  <a:lumMod val="50000"/>
                </a:schemeClr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11988799" cy="1016000"/>
          </a:xfrm>
        </p:spPr>
        <p:txBody>
          <a:bodyPr>
            <a:normAutofit/>
          </a:bodyPr>
          <a:lstStyle/>
          <a:p>
            <a:r>
              <a:rPr lang="en-US" sz="4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ANALYSIS DONE FOR</a:t>
            </a:r>
            <a:endParaRPr lang="en-IN" sz="4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77372" y="1306287"/>
            <a:ext cx="11451772" cy="5181599"/>
          </a:xfrm>
        </p:spPr>
        <p:txBody>
          <a:bodyPr>
            <a:normAutofit fontScale="92500"/>
          </a:bodyPr>
          <a:lstStyle/>
          <a:p>
            <a:pPr marL="342900" indent="-342900" algn="just">
              <a:buFont typeface="Wingdings" panose="05000000000000000000" pitchFamily="2" charset="2"/>
              <a:buChar char="v"/>
            </a:pPr>
            <a:r>
              <a:rPr lang="en-US" sz="2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Sum 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 Net Profit and Sum of Target Profit by Region:</a:t>
            </a:r>
          </a:p>
          <a:p>
            <a:pPr marL="261938" algn="just"/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Visualizes the comparison between actual net profit and target profit across different regions to identify performance gaps.</a:t>
            </a:r>
          </a:p>
          <a:p>
            <a:pPr marL="342900" indent="-342900" algn="just">
              <a:buFont typeface="Wingdings" panose="05000000000000000000" pitchFamily="2" charset="2"/>
              <a:buChar char="v"/>
            </a:pPr>
            <a:r>
              <a:rPr lang="en-US" sz="2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Sum 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 Target Profit by Sales Rep:</a:t>
            </a:r>
          </a:p>
          <a:p>
            <a:pPr marL="261938" algn="just"/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Shows the contribution of each sales representative toward achieving the company’s target profit.</a:t>
            </a:r>
          </a:p>
          <a:p>
            <a:pPr marL="342900" indent="-342900" algn="just">
              <a:buFont typeface="Wingdings" panose="05000000000000000000" pitchFamily="2" charset="2"/>
              <a:buChar char="v"/>
            </a:pPr>
            <a:r>
              <a:rPr lang="en-US" sz="2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Sum 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 Operating Expense by Product Category:</a:t>
            </a:r>
          </a:p>
          <a:p>
            <a:pPr marL="261938" algn="just"/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Displays the operating expenses across different product categories to highlight cost-intensive areas.</a:t>
            </a:r>
          </a:p>
          <a:p>
            <a:pPr marL="342900" indent="-342900" algn="just">
              <a:buFont typeface="Wingdings" panose="05000000000000000000" pitchFamily="2" charset="2"/>
              <a:buChar char="v"/>
            </a:pPr>
            <a:r>
              <a:rPr lang="en-US" sz="2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Sum of Revenue and Sum of Cost of Goods Sold by Region:</a:t>
            </a:r>
          </a:p>
          <a:p>
            <a:pPr marL="261938" algn="just"/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Compares revenue and COGS across regions to evaluate regional profitability and cost efficiency.</a:t>
            </a:r>
          </a:p>
          <a:p>
            <a:pPr marL="342900" indent="-342900" algn="just">
              <a:buFont typeface="Wingdings" panose="05000000000000000000" pitchFamily="2" charset="2"/>
              <a:buChar char="v"/>
            </a:pPr>
            <a:r>
              <a:rPr lang="en-US" sz="2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Sum 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 Cost of Goods Sold by Year and Month:</a:t>
            </a:r>
          </a:p>
          <a:p>
            <a:pPr marL="261938" algn="just"/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Visualizes the monthly trend of COGS over time to identify spending patterns and seasonal fluctuations.</a:t>
            </a:r>
          </a:p>
          <a:p>
            <a:pPr marL="342900" indent="-342900" algn="just">
              <a:buFont typeface="Wingdings" panose="05000000000000000000" pitchFamily="2" charset="2"/>
              <a:buChar char="v"/>
            </a:pPr>
            <a:r>
              <a:rPr lang="en-US" sz="2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Sum 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 Target Revenue and Sum of Target Profit by Region:</a:t>
            </a:r>
          </a:p>
          <a:p>
            <a:pPr marL="174625" indent="87313" algn="just"/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Compares target revenue and target profit across regions to assess planned financial performance</a:t>
            </a:r>
            <a:r>
              <a:rPr lang="en-US" sz="2200" dirty="0"/>
              <a:t>.</a:t>
            </a:r>
          </a:p>
          <a:p>
            <a:pPr algn="just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5021802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12192000" cy="943429"/>
          </a:xfrm>
        </p:spPr>
        <p:txBody>
          <a:bodyPr>
            <a:normAutofit/>
          </a:bodyPr>
          <a:lstStyle/>
          <a:p>
            <a:r>
              <a:rPr lang="en-US" sz="4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OVERALL PERFORMANCE</a:t>
            </a:r>
            <a:endParaRPr lang="en-IN" sz="4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6113" y="1175657"/>
            <a:ext cx="11930743" cy="5471885"/>
          </a:xfrm>
        </p:spPr>
        <p:txBody>
          <a:bodyPr>
            <a:normAutofit/>
          </a:bodyPr>
          <a:lstStyle/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Displays the key financial KPIs in a </a:t>
            </a:r>
            <a:r>
              <a:rPr lang="en-US" sz="2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quick,easy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-to-read format.</a:t>
            </a: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Shows total revenue to understand overall income generated.</a:t>
            </a: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Shows total net profit to measure actual business profitability.</a:t>
            </a: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Show total target revenue to compare planned vs achieved performance.</a:t>
            </a: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Show target profit to evaluate expected profit levels.</a:t>
            </a: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Show operating expenses to understand total cost incurred.</a:t>
            </a: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Helps users get an immediate snapshot of business performance at a glance.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8036123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" y="0"/>
            <a:ext cx="12061370" cy="1422400"/>
          </a:xfrm>
        </p:spPr>
        <p:txBody>
          <a:bodyPr/>
          <a:lstStyle/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90286" y="1799771"/>
            <a:ext cx="11669485" cy="4644572"/>
          </a:xfrm>
        </p:spPr>
        <p:txBody>
          <a:bodyPr/>
          <a:lstStyle/>
          <a:p>
            <a:pPr algn="just">
              <a:lnSpc>
                <a:spcPct val="150000"/>
              </a:lnSpc>
            </a:pP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 Our Project The Financial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KPI Dashboard provides a clear and interactive view of the company’s key financial metrics, helping users easily track revenue, profit, expenses, and performance across regions, products, and sales representatives. By visualizing real-time financial data, the dashboard enables quick decision-making, identifies performance gaps, highlights cost-intensive areas, and supports better planning and forecasting. Overall, the dashboard simplifies financial analysis and enhances business efficiency through insightful and user-friendly visualizations</a:t>
            </a:r>
            <a:r>
              <a:rPr lang="en-US" dirty="0"/>
              <a:t>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7341231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6250</TotalTime>
  <Words>591</Words>
  <Application>Microsoft Office PowerPoint</Application>
  <PresentationFormat>Widescreen</PresentationFormat>
  <Paragraphs>51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Arial</vt:lpstr>
      <vt:lpstr>Calibri</vt:lpstr>
      <vt:lpstr>Calibri Light</vt:lpstr>
      <vt:lpstr>Times New Roman</vt:lpstr>
      <vt:lpstr>Wingdings</vt:lpstr>
      <vt:lpstr>Office Theme</vt:lpstr>
      <vt:lpstr>DATA ANALYSIS</vt:lpstr>
      <vt:lpstr>OBJECTIVES</vt:lpstr>
      <vt:lpstr>PROBLEM  STATEMENT </vt:lpstr>
      <vt:lpstr>ANALYSIS DONE FOR</vt:lpstr>
      <vt:lpstr>OVERALL PERFORMANCE</vt:lpstr>
      <vt:lpstr>CONCLUSION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 ANALYSIS</dc:title>
  <dc:creator>shamsheera A T</dc:creator>
  <cp:lastModifiedBy>Admin</cp:lastModifiedBy>
  <cp:revision>23</cp:revision>
  <dcterms:created xsi:type="dcterms:W3CDTF">2024-11-13T05:17:00Z</dcterms:created>
  <dcterms:modified xsi:type="dcterms:W3CDTF">2025-11-19T14:52:37Z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422FDF0A57494556846E85443C3C0B23_12</vt:lpwstr>
  </property>
  <property fmtid="{D5CDD505-2E9C-101B-9397-08002B2CF9AE}" pid="3" name="KSOProductBuildVer">
    <vt:lpwstr>1033-12.2.0.23155</vt:lpwstr>
  </property>
</Properties>
</file>